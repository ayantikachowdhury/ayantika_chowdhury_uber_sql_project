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73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YANTIKA%20CHOWDHURY\Desktop\u1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YANTIKA%20CHOWDHURY\Desktop\u2.csv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YANTIKA%20CHOWDHURY\Desktop\u4.csv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YANTIKA%20CHOWDHURY\Desktop\u5.csv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YANTIKA%20CHOWDHURY\Desktop\u5.csv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YANTIKA%20CHOWDHURY\Desktop\u6.csv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YANTIKA%20CHOWDHURY\Desktop\u7.csv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'u1'!$B$1</c:f>
              <c:strCache>
                <c:ptCount val="1"/>
                <c:pt idx="0">
                  <c:v>total_revenue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'u1'!$A$2:$A$11</c:f>
              <c:strCache>
                <c:ptCount val="10"/>
                <c:pt idx="0">
                  <c:v>Barakhamba Road</c:v>
                </c:pt>
                <c:pt idx="1">
                  <c:v>Khandsa</c:v>
                </c:pt>
                <c:pt idx="2">
                  <c:v>Pataudi Chowk</c:v>
                </c:pt>
                <c:pt idx="3">
                  <c:v>Tughlakabad</c:v>
                </c:pt>
                <c:pt idx="4">
                  <c:v>Subhash Chowk</c:v>
                </c:pt>
                <c:pt idx="5">
                  <c:v>Badarpur</c:v>
                </c:pt>
                <c:pt idx="6">
                  <c:v>Inderlok</c:v>
                </c:pt>
                <c:pt idx="7">
                  <c:v>AIIMS</c:v>
                </c:pt>
                <c:pt idx="8">
                  <c:v>ITO</c:v>
                </c:pt>
                <c:pt idx="9">
                  <c:v>Saidulajab</c:v>
                </c:pt>
              </c:strCache>
            </c:strRef>
          </c:cat>
          <c:val>
            <c:numRef>
              <c:f>'u1'!$B$2:$B$11</c:f>
              <c:numCache>
                <c:formatCode>General</c:formatCode>
                <c:ptCount val="10"/>
                <c:pt idx="0">
                  <c:v>309713</c:v>
                </c:pt>
                <c:pt idx="1">
                  <c:v>309041</c:v>
                </c:pt>
                <c:pt idx="2">
                  <c:v>306774</c:v>
                </c:pt>
                <c:pt idx="3">
                  <c:v>299419</c:v>
                </c:pt>
                <c:pt idx="4">
                  <c:v>299023</c:v>
                </c:pt>
                <c:pt idx="5">
                  <c:v>298309</c:v>
                </c:pt>
                <c:pt idx="6">
                  <c:v>296487</c:v>
                </c:pt>
                <c:pt idx="7">
                  <c:v>296028</c:v>
                </c:pt>
                <c:pt idx="8">
                  <c:v>292168</c:v>
                </c:pt>
                <c:pt idx="9">
                  <c:v>291251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988-470A-A959-BF1E36FDDF7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807374943"/>
        <c:axId val="676259375"/>
      </c:barChart>
      <c:catAx>
        <c:axId val="8073749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76259375"/>
        <c:crosses val="autoZero"/>
        <c:auto val="1"/>
        <c:lblAlgn val="ctr"/>
        <c:lblOffset val="100"/>
        <c:noMultiLvlLbl val="0"/>
      </c:catAx>
      <c:valAx>
        <c:axId val="67625937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073749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'u2'!$B$1</c:f>
              <c:strCache>
                <c:ptCount val="1"/>
                <c:pt idx="0">
                  <c:v>no_of_completedrides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'u2'!$A$2:$A$6</c:f>
              <c:strCache>
                <c:ptCount val="5"/>
                <c:pt idx="0">
                  <c:v>UPI_x000d_</c:v>
                </c:pt>
                <c:pt idx="1">
                  <c:v>Cash_x000d_</c:v>
                </c:pt>
                <c:pt idx="2">
                  <c:v>Uber Wallet_x000d_</c:v>
                </c:pt>
                <c:pt idx="3">
                  <c:v>Credit Card_x000d_</c:v>
                </c:pt>
                <c:pt idx="4">
                  <c:v>Debit Card_x000d_</c:v>
                </c:pt>
              </c:strCache>
            </c:strRef>
          </c:cat>
          <c:val>
            <c:numRef>
              <c:f>'u2'!$B$2:$B$6</c:f>
              <c:numCache>
                <c:formatCode>General</c:formatCode>
                <c:ptCount val="5"/>
                <c:pt idx="0">
                  <c:v>41834</c:v>
                </c:pt>
                <c:pt idx="1">
                  <c:v>23114</c:v>
                </c:pt>
                <c:pt idx="2">
                  <c:v>11206</c:v>
                </c:pt>
                <c:pt idx="3">
                  <c:v>9320</c:v>
                </c:pt>
                <c:pt idx="4">
                  <c:v>7526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370-41B3-9D4A-F11F0FBA93A4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035986911"/>
        <c:axId val="946772719"/>
      </c:barChart>
      <c:catAx>
        <c:axId val="10359869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46772719"/>
        <c:crosses val="autoZero"/>
        <c:auto val="1"/>
        <c:lblAlgn val="ctr"/>
        <c:lblOffset val="100"/>
        <c:noMultiLvlLbl val="0"/>
      </c:catAx>
      <c:valAx>
        <c:axId val="94677271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359869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1"/>
          <c:order val="0"/>
          <c:tx>
            <c:strRef>
              <c:f>'u4'!$B$1</c:f>
              <c:strCache>
                <c:ptCount val="1"/>
                <c:pt idx="0">
                  <c:v>noOFbookings</c:v>
                </c:pt>
              </c:strCache>
            </c:strRef>
          </c:tx>
          <c:spPr>
            <a:solidFill>
              <a:schemeClr val="accent5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numRef>
              <c:f>'u4'!$A$2:$A$25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'u4'!$B$2:$B$25</c:f>
              <c:numCache>
                <c:formatCode>General</c:formatCode>
                <c:ptCount val="24"/>
                <c:pt idx="0">
                  <c:v>424</c:v>
                </c:pt>
                <c:pt idx="1">
                  <c:v>458</c:v>
                </c:pt>
                <c:pt idx="2">
                  <c:v>448</c:v>
                </c:pt>
                <c:pt idx="3">
                  <c:v>422</c:v>
                </c:pt>
                <c:pt idx="4">
                  <c:v>435</c:v>
                </c:pt>
                <c:pt idx="5">
                  <c:v>920</c:v>
                </c:pt>
                <c:pt idx="6">
                  <c:v>1354</c:v>
                </c:pt>
                <c:pt idx="7">
                  <c:v>1754</c:v>
                </c:pt>
                <c:pt idx="8">
                  <c:v>2267</c:v>
                </c:pt>
                <c:pt idx="9">
                  <c:v>2781</c:v>
                </c:pt>
                <c:pt idx="10">
                  <c:v>3181</c:v>
                </c:pt>
                <c:pt idx="11">
                  <c:v>2854</c:v>
                </c:pt>
                <c:pt idx="12">
                  <c:v>2288</c:v>
                </c:pt>
                <c:pt idx="13">
                  <c:v>1833</c:v>
                </c:pt>
                <c:pt idx="14">
                  <c:v>2301</c:v>
                </c:pt>
                <c:pt idx="15">
                  <c:v>2716</c:v>
                </c:pt>
                <c:pt idx="16">
                  <c:v>3237</c:v>
                </c:pt>
                <c:pt idx="17">
                  <c:v>3622</c:v>
                </c:pt>
                <c:pt idx="18">
                  <c:v>4143</c:v>
                </c:pt>
                <c:pt idx="19">
                  <c:v>3613</c:v>
                </c:pt>
                <c:pt idx="20">
                  <c:v>3161</c:v>
                </c:pt>
                <c:pt idx="21">
                  <c:v>2759</c:v>
                </c:pt>
                <c:pt idx="22">
                  <c:v>1827</c:v>
                </c:pt>
                <c:pt idx="23">
                  <c:v>916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E5-4F2A-B756-662D867F75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48060095"/>
        <c:axId val="328754959"/>
      </c:barChart>
      <c:catAx>
        <c:axId val="348060095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8754959"/>
        <c:crosses val="autoZero"/>
        <c:auto val="1"/>
        <c:lblAlgn val="ctr"/>
        <c:lblOffset val="100"/>
        <c:noMultiLvlLbl val="0"/>
      </c:catAx>
      <c:valAx>
        <c:axId val="328754959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48060095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Revenue</a:t>
            </a:r>
            <a:r>
              <a:rPr lang="en-IN" baseline="0"/>
              <a:t> trend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'u5'!$C$1</c:f>
              <c:strCache>
                <c:ptCount val="1"/>
                <c:pt idx="0">
                  <c:v>totalRevenue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'u5'!$B$2:$B$13</c:f>
              <c:strCache>
                <c:ptCount val="12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  <c:pt idx="9">
                  <c:v>October</c:v>
                </c:pt>
                <c:pt idx="10">
                  <c:v>November</c:v>
                </c:pt>
                <c:pt idx="11">
                  <c:v>December</c:v>
                </c:pt>
              </c:strCache>
            </c:strRef>
          </c:cat>
          <c:val>
            <c:numRef>
              <c:f>'u5'!$C$2:$C$13</c:f>
              <c:numCache>
                <c:formatCode>General</c:formatCode>
                <c:ptCount val="12"/>
                <c:pt idx="0">
                  <c:v>4001547</c:v>
                </c:pt>
                <c:pt idx="1">
                  <c:v>3756610</c:v>
                </c:pt>
                <c:pt idx="2">
                  <c:v>4174900</c:v>
                </c:pt>
                <c:pt idx="3">
                  <c:v>3885255</c:v>
                </c:pt>
                <c:pt idx="4">
                  <c:v>3935207</c:v>
                </c:pt>
                <c:pt idx="5">
                  <c:v>3964298</c:v>
                </c:pt>
                <c:pt idx="6">
                  <c:v>3961939</c:v>
                </c:pt>
                <c:pt idx="7">
                  <c:v>3867753</c:v>
                </c:pt>
                <c:pt idx="8">
                  <c:v>3820536</c:v>
                </c:pt>
                <c:pt idx="9">
                  <c:v>4008403</c:v>
                </c:pt>
                <c:pt idx="10">
                  <c:v>3938458</c:v>
                </c:pt>
                <c:pt idx="11">
                  <c:v>3945668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61A-48FB-BE0C-414CCFB15C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30087503"/>
        <c:axId val="484379439"/>
      </c:lineChart>
      <c:catAx>
        <c:axId val="4300875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4379439"/>
        <c:crosses val="autoZero"/>
        <c:auto val="1"/>
        <c:lblAlgn val="ctr"/>
        <c:lblOffset val="100"/>
        <c:noMultiLvlLbl val="0"/>
      </c:catAx>
      <c:valAx>
        <c:axId val="48437943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0875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Booking trend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'u5'!$B$1</c:f>
              <c:strCache>
                <c:ptCount val="1"/>
                <c:pt idx="0">
                  <c:v>noOFbookings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'u5'!$A$2:$A$13</c:f>
              <c:strCache>
                <c:ptCount val="12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  <c:pt idx="9">
                  <c:v>October</c:v>
                </c:pt>
                <c:pt idx="10">
                  <c:v>November</c:v>
                </c:pt>
                <c:pt idx="11">
                  <c:v>December</c:v>
                </c:pt>
              </c:strCache>
            </c:strRef>
          </c:cat>
          <c:val>
            <c:numRef>
              <c:f>'u5'!$B$2:$B$13</c:f>
              <c:numCache>
                <c:formatCode>General</c:formatCode>
                <c:ptCount val="12"/>
                <c:pt idx="0">
                  <c:v>7951</c:v>
                </c:pt>
                <c:pt idx="1">
                  <c:v>7368</c:v>
                </c:pt>
                <c:pt idx="2">
                  <c:v>7954</c:v>
                </c:pt>
                <c:pt idx="3">
                  <c:v>7632</c:v>
                </c:pt>
                <c:pt idx="4">
                  <c:v>7905</c:v>
                </c:pt>
                <c:pt idx="5">
                  <c:v>7757</c:v>
                </c:pt>
                <c:pt idx="6">
                  <c:v>7926</c:v>
                </c:pt>
                <c:pt idx="7">
                  <c:v>7780</c:v>
                </c:pt>
                <c:pt idx="8">
                  <c:v>7542</c:v>
                </c:pt>
                <c:pt idx="9">
                  <c:v>7905</c:v>
                </c:pt>
                <c:pt idx="10">
                  <c:v>7659</c:v>
                </c:pt>
                <c:pt idx="11">
                  <c:v>7621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1B5-4C44-A646-0E51D5DC8F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30728431"/>
        <c:axId val="484350159"/>
      </c:lineChart>
      <c:catAx>
        <c:axId val="4307284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4350159"/>
        <c:crosses val="autoZero"/>
        <c:auto val="1"/>
        <c:lblAlgn val="ctr"/>
        <c:lblOffset val="100"/>
        <c:noMultiLvlLbl val="0"/>
      </c:catAx>
      <c:valAx>
        <c:axId val="48435015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72843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'u6'!$B$1</c:f>
              <c:strCache>
                <c:ptCount val="1"/>
                <c:pt idx="0">
                  <c:v>noOFbookings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'u6'!$A$2:$A$8</c:f>
              <c:strCache>
                <c:ptCount val="7"/>
                <c:pt idx="0">
                  <c:v>Auto</c:v>
                </c:pt>
                <c:pt idx="1">
                  <c:v>Premier Sedan</c:v>
                </c:pt>
                <c:pt idx="2">
                  <c:v>Bike</c:v>
                </c:pt>
                <c:pt idx="3">
                  <c:v>Go Mini</c:v>
                </c:pt>
                <c:pt idx="4">
                  <c:v>Go Sedan</c:v>
                </c:pt>
                <c:pt idx="5">
                  <c:v>Uber XL</c:v>
                </c:pt>
                <c:pt idx="6">
                  <c:v>eBike</c:v>
                </c:pt>
              </c:strCache>
            </c:strRef>
          </c:cat>
          <c:val>
            <c:numRef>
              <c:f>'u6'!$B$2:$B$8</c:f>
              <c:numCache>
                <c:formatCode>General</c:formatCode>
                <c:ptCount val="7"/>
                <c:pt idx="0">
                  <c:v>23155</c:v>
                </c:pt>
                <c:pt idx="1">
                  <c:v>11252</c:v>
                </c:pt>
                <c:pt idx="2">
                  <c:v>14034</c:v>
                </c:pt>
                <c:pt idx="3">
                  <c:v>18549</c:v>
                </c:pt>
                <c:pt idx="4">
                  <c:v>16676</c:v>
                </c:pt>
                <c:pt idx="5">
                  <c:v>2783</c:v>
                </c:pt>
                <c:pt idx="6">
                  <c:v>6551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1CE-43C5-9470-E37998FBA2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30066623"/>
        <c:axId val="237953775"/>
      </c:barChart>
      <c:catAx>
        <c:axId val="4300666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37953775"/>
        <c:crosses val="autoZero"/>
        <c:auto val="1"/>
        <c:lblAlgn val="ctr"/>
        <c:lblOffset val="100"/>
        <c:noMultiLvlLbl val="0"/>
      </c:catAx>
      <c:valAx>
        <c:axId val="23795377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06662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'u7'!$B$1</c:f>
              <c:strCache>
                <c:ptCount val="1"/>
                <c:pt idx="0">
                  <c:v>TotalRevenue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'u7'!$A$2:$A$8</c:f>
              <c:strCache>
                <c:ptCount val="7"/>
                <c:pt idx="0">
                  <c:v>Auto</c:v>
                </c:pt>
                <c:pt idx="1">
                  <c:v>Premier Sedan</c:v>
                </c:pt>
                <c:pt idx="2">
                  <c:v>Bike</c:v>
                </c:pt>
                <c:pt idx="3">
                  <c:v>Go Mini</c:v>
                </c:pt>
                <c:pt idx="4">
                  <c:v>Go Sedan</c:v>
                </c:pt>
                <c:pt idx="5">
                  <c:v>Uber XL</c:v>
                </c:pt>
                <c:pt idx="6">
                  <c:v>eBike</c:v>
                </c:pt>
              </c:strCache>
            </c:strRef>
          </c:cat>
          <c:val>
            <c:numRef>
              <c:f>'u7'!$B$2:$B$8</c:f>
              <c:numCache>
                <c:formatCode>General</c:formatCode>
                <c:ptCount val="7"/>
                <c:pt idx="0">
                  <c:v>11727615</c:v>
                </c:pt>
                <c:pt idx="1">
                  <c:v>5733655</c:v>
                </c:pt>
                <c:pt idx="2">
                  <c:v>7144913</c:v>
                </c:pt>
                <c:pt idx="3">
                  <c:v>9411418</c:v>
                </c:pt>
                <c:pt idx="4">
                  <c:v>8538560</c:v>
                </c:pt>
                <c:pt idx="5">
                  <c:v>1406256</c:v>
                </c:pt>
                <c:pt idx="6">
                  <c:v>3298157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7F-46B0-A219-5EB8EEF8BD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30061983"/>
        <c:axId val="237924495"/>
      </c:barChart>
      <c:catAx>
        <c:axId val="4300619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37924495"/>
        <c:crosses val="autoZero"/>
        <c:auto val="1"/>
        <c:lblAlgn val="ctr"/>
        <c:lblOffset val="100"/>
        <c:noMultiLvlLbl val="0"/>
      </c:catAx>
      <c:valAx>
        <c:axId val="23792449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06198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F21CD-F7AB-EFFA-ADFC-19F49C6535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FF5EDE-A2EF-FC83-530C-AD1E1F3C67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C112A5-6BE2-3DF2-ED29-8294D8216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FF370-CFAF-4A36-8BD0-DD75E24E48D2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C2D3FE-2A50-6730-593E-C87DE0E51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1F6692-67F3-E896-B4D2-34AE70561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F7DF1-B62C-4C7E-A503-01DB294B2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0878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05C9C-B31D-26AA-26FE-A022E34C5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D1080-D320-129B-CC91-8B70689EE4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D6488-A1D5-B953-A2D6-7722E172D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FF370-CFAF-4A36-8BD0-DD75E24E48D2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4446BE-58F2-C0E8-E591-ECAF011B5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1C25A7-6630-27DC-0C25-F989478EC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F7DF1-B62C-4C7E-A503-01DB294B2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3045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DF27E-6C24-DCF1-CDB8-B83761A0C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06BAC1-E20E-F27E-D14D-398773FEB4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E3E42A-8B48-4EF4-359D-417E84D92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FF370-CFAF-4A36-8BD0-DD75E24E48D2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99F4CB-5D4D-E4EE-A53C-9F7C6CFF4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28D0A6-1502-0B55-F315-396AD3FA5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F7DF1-B62C-4C7E-A503-01DB294B2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42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90D78-3974-D63E-ABF4-4359CA013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56C3A-82EA-33C1-2039-181F863622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49FFA6-DA04-AB33-0A69-2983842DDD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46BD01-CEB4-6A22-9FB7-69E85316C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FF370-CFAF-4A36-8BD0-DD75E24E48D2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4051E5-7D64-6F5E-53DE-EF7F190DB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7BFF82-9301-8284-0501-CAD978CB9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F7DF1-B62C-4C7E-A503-01DB294B2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294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C8995-916E-243E-7B9B-B4148300B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6B2DFE-AC9C-F19B-B9A7-18BFCA494F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1CA96F-C408-D689-798C-C16E7373EA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FB5451-3AC5-B208-AC94-6D3F12268B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46ACC8-065B-810A-F096-EDF163C109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CCA2C0-F44A-6A5E-A9EC-9B12CC3DC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FF370-CFAF-4A36-8BD0-DD75E24E48D2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BB54A0-70A4-B631-EF8F-83A3AF0FC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64107F-8835-6713-7955-801C26B08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F7DF1-B62C-4C7E-A503-01DB294B2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039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E1D34-F114-00B8-BA98-06BEA9CA1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67B6DA-ED63-F55C-AD55-B8530B1C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FF370-CFAF-4A36-8BD0-DD75E24E48D2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B9223E-B23C-3B6B-358D-29AB96E0A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AF3193-0C84-4CD0-6531-DC044FFBF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F7DF1-B62C-4C7E-A503-01DB294B2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4707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CAD61E-3630-A130-7410-07FF81A2D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FF370-CFAF-4A36-8BD0-DD75E24E48D2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436382-DD4B-3C77-148E-AD701902B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9E5B58-1E05-4A4D-FC5A-8984AF5A3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F7DF1-B62C-4C7E-A503-01DB294B2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8709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715A1-A660-396D-7461-4B9B5AD2E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79E84-D277-FD75-A766-B5ABC7BB11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F0481C-F0BF-F817-9694-5B94799B6F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58C988-6086-4D82-33ED-431BFD75B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FF370-CFAF-4A36-8BD0-DD75E24E48D2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38C687-344E-3EE0-A873-03F881044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1E1D36-3BF6-D6C6-D18D-210773E0F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F7DF1-B62C-4C7E-A503-01DB294B2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5616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763BF-D68E-518B-9AE3-E16694E18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F23034-D3EB-5D1E-5D05-E5E68DCAD8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6A28DE-1177-519C-6098-33648650EE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B9BFB4-7FD3-0F3B-1A06-C75028EC5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FF370-CFAF-4A36-8BD0-DD75E24E48D2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22A975-6979-DD38-98FF-95A1CB12A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9D2461-D65A-5280-61BC-8873B5BCB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F7DF1-B62C-4C7E-A503-01DB294B2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8871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1B404-BFE1-01B5-CBFC-933EB3888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332EC1-8EFD-4F44-5066-7785BE93BF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59A9F3-71BC-70D7-1EAE-45699848F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FF370-CFAF-4A36-8BD0-DD75E24E48D2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ADD26-D172-43A7-B761-F17633E21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860D0-E312-EAD3-9702-20565C328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F7DF1-B62C-4C7E-A503-01DB294B2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9365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1533BC-90DE-F7A2-B916-52E0683132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A46615-15F0-CB8C-CAAF-80474C0FA6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49ADC1-6329-9356-EE69-B1194672A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FF370-CFAF-4A36-8BD0-DD75E24E48D2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080B6-18FF-E14E-1BF3-ACD99DFB2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2E3491-1EB6-C6C5-0DCA-6C8619151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F7DF1-B62C-4C7E-A503-01DB294B2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7229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FC25E9-E167-904D-FB1E-ACADC9F2F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1C206-6205-0504-B7A2-559DC1082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86BD27-3866-946F-6EEC-8D26608504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5FF370-CFAF-4A36-8BD0-DD75E24E48D2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3BCA3E-015B-7E86-FB96-826A94E792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B877F-BB77-1195-2F1B-03E672ADE7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FF7DF1-B62C-4C7E-A503-01DB294B28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7705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C189D0E-952E-7EDC-EE03-7ED52CA8EE5B}"/>
              </a:ext>
            </a:extLst>
          </p:cNvPr>
          <p:cNvSpPr/>
          <p:nvPr/>
        </p:nvSpPr>
        <p:spPr>
          <a:xfrm>
            <a:off x="0" y="0"/>
            <a:ext cx="6962775" cy="68579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>
                <a:solidFill>
                  <a:schemeClr val="bg2">
                    <a:lumMod val="25000"/>
                  </a:schemeClr>
                </a:solidFill>
                <a:latin typeface="Bernard MT Condensed" panose="02050806060905020404" pitchFamily="18" charset="0"/>
              </a:rPr>
              <a:t>UBER RIDE BOOKING ANALYSIS</a:t>
            </a:r>
          </a:p>
          <a:p>
            <a:pPr algn="ctr"/>
            <a:endParaRPr lang="en-US" sz="1200" dirty="0">
              <a:solidFill>
                <a:schemeClr val="bg2">
                  <a:lumMod val="25000"/>
                </a:schemeClr>
              </a:solidFill>
              <a:latin typeface="Bernard MT Condensed" panose="020508060609050204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EF616D-CFAD-C21A-8DE6-99E6CFFA23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2776" y="0"/>
            <a:ext cx="5229224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866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D8FF13-2CE4-88D8-DE95-9F548AA6E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2D9E1EE-132E-2392-89DE-478B289DE829}"/>
              </a:ext>
            </a:extLst>
          </p:cNvPr>
          <p:cNvSpPr/>
          <p:nvPr/>
        </p:nvSpPr>
        <p:spPr>
          <a:xfrm>
            <a:off x="3224981" y="358877"/>
            <a:ext cx="5742038" cy="7570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  <a:r>
              <a:rPr lang="en-US" sz="2400" dirty="0"/>
              <a:t>Introduction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D5014-F4DE-8798-173F-4859F36C5DAC}"/>
              </a:ext>
            </a:extLst>
          </p:cNvPr>
          <p:cNvSpPr/>
          <p:nvPr/>
        </p:nvSpPr>
        <p:spPr>
          <a:xfrm>
            <a:off x="909484" y="1620982"/>
            <a:ext cx="10373032" cy="44680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This project analyzes Uber ride booking dataset (Delhi NCR) for the year 2024. It</a:t>
            </a:r>
            <a:r>
              <a:rPr lang="en-IN" dirty="0"/>
              <a:t> provides insights into booking patterns, vehicle performance, revenue streams, cancellation behaviours, and customer satisfaction metrics.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fontAlgn="base"/>
            <a:r>
              <a:rPr lang="en-IN" sz="2000" b="1" dirty="0"/>
              <a:t>Dataset Overview</a:t>
            </a:r>
          </a:p>
          <a:p>
            <a:pPr fontAlgn="base"/>
            <a:r>
              <a:rPr lang="en-IN" dirty="0"/>
              <a:t>The dataset captures </a:t>
            </a:r>
            <a:r>
              <a:rPr lang="en-IN" b="1" dirty="0"/>
              <a:t>148,770 total bookings</a:t>
            </a:r>
            <a:r>
              <a:rPr lang="en-IN" dirty="0"/>
              <a:t> across multiple vehicle types and provides a complete view of ride-sharing operations including successful rides, cancellations, customer behaviours and financial metrics.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2370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B6C0F66-5B6F-32DF-40E0-621F7863CF00}"/>
              </a:ext>
            </a:extLst>
          </p:cNvPr>
          <p:cNvSpPr/>
          <p:nvPr/>
        </p:nvSpPr>
        <p:spPr>
          <a:xfrm>
            <a:off x="3224981" y="432619"/>
            <a:ext cx="5742038" cy="7570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  <a:r>
              <a:rPr lang="en-US" sz="2400" dirty="0"/>
              <a:t>Objectives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1990FD-5C50-CD87-7CDD-3CB639260DBD}"/>
              </a:ext>
            </a:extLst>
          </p:cNvPr>
          <p:cNvSpPr/>
          <p:nvPr/>
        </p:nvSpPr>
        <p:spPr>
          <a:xfrm>
            <a:off x="727364" y="1641764"/>
            <a:ext cx="10962409" cy="47836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AutoNum type="arabicPeriod"/>
            </a:pPr>
            <a:endParaRPr lang="en-US" dirty="0"/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endParaRPr lang="en-US" dirty="0"/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endParaRPr lang="en-US" dirty="0"/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endParaRPr lang="en-US" dirty="0"/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endParaRPr lang="en-US" dirty="0"/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 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endParaRPr lang="en-US" dirty="0"/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dirty="0"/>
              <a:t>Finding Top 10 pickup locations by total revenue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dirty="0"/>
              <a:t>Payment method wise revenue contribution and number of complete rides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dirty="0"/>
              <a:t>Identify Peak demand hours 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dirty="0"/>
              <a:t>Identify high demand days using average daily booking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dirty="0"/>
              <a:t>Hour wise booking volume during high demand days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dirty="0"/>
              <a:t>Monthly bookings &amp; revenue trend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dirty="0"/>
              <a:t>Identify </a:t>
            </a:r>
            <a:r>
              <a:rPr lang="en-US" dirty="0" err="1"/>
              <a:t>easons</a:t>
            </a:r>
            <a:r>
              <a:rPr lang="en-US" dirty="0"/>
              <a:t> behind ride cancellation by customers and drivers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dirty="0"/>
              <a:t>Top 5 Pickup locations with highest driver-cancellation rate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dirty="0"/>
              <a:t>Vehicle wise number of bookings and Revenue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dirty="0"/>
              <a:t>What proportion of customers are repeat users</a:t>
            </a:r>
            <a:endParaRPr lang="en-IN" dirty="0"/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endParaRPr lang="en-IN" dirty="0"/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endParaRPr lang="en-US" dirty="0"/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endParaRPr lang="en-IN" dirty="0"/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endParaRPr lang="en-IN" dirty="0"/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endParaRPr lang="en-IN" dirty="0"/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endParaRPr lang="en-IN" dirty="0"/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endParaRPr lang="en-IN" dirty="0"/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dirty="0"/>
          </a:p>
          <a:p>
            <a:pPr marL="342900" indent="-342900" algn="ctr">
              <a:buAutoNum type="arabicPeriod"/>
            </a:pPr>
            <a:endParaRPr lang="en-US" dirty="0"/>
          </a:p>
          <a:p>
            <a:pPr marL="342900" indent="-342900" algn="ctr"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4067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DCF0B8-F13B-D370-A1E0-C554DF636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2D954DB-33A6-5AC5-7536-439B63B53F40}"/>
              </a:ext>
            </a:extLst>
          </p:cNvPr>
          <p:cNvSpPr/>
          <p:nvPr/>
        </p:nvSpPr>
        <p:spPr>
          <a:xfrm>
            <a:off x="3224981" y="452284"/>
            <a:ext cx="5742038" cy="7570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Top 10 pickup location by total revenue</a:t>
            </a:r>
            <a:endParaRPr lang="en-IN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EA6AAA-7864-56F7-C02D-35F35EB4DAEE}"/>
              </a:ext>
            </a:extLst>
          </p:cNvPr>
          <p:cNvSpPr/>
          <p:nvPr/>
        </p:nvSpPr>
        <p:spPr>
          <a:xfrm>
            <a:off x="9094839" y="4168877"/>
            <a:ext cx="2910348" cy="25760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select </a:t>
            </a:r>
            <a:r>
              <a:rPr lang="en-US" sz="1600" dirty="0" err="1"/>
              <a:t>pickup_location,sum</a:t>
            </a:r>
            <a:r>
              <a:rPr lang="en-US" sz="1600" dirty="0"/>
              <a:t>(</a:t>
            </a:r>
            <a:r>
              <a:rPr lang="en-US" sz="1600" dirty="0" err="1"/>
              <a:t>bookingvalue</a:t>
            </a:r>
            <a:r>
              <a:rPr lang="en-US" sz="1600" dirty="0"/>
              <a:t>) as </a:t>
            </a:r>
            <a:r>
              <a:rPr lang="en-US" sz="1600" dirty="0" err="1"/>
              <a:t>total_revenuefrom</a:t>
            </a:r>
            <a:r>
              <a:rPr lang="en-US" sz="1600" dirty="0"/>
              <a:t> ride where </a:t>
            </a:r>
            <a:r>
              <a:rPr lang="en-US" sz="1600" dirty="0" err="1"/>
              <a:t>booking_status</a:t>
            </a:r>
            <a:r>
              <a:rPr lang="en-US" sz="1600" dirty="0"/>
              <a:t>="</a:t>
            </a:r>
            <a:r>
              <a:rPr lang="en-US" sz="1600" dirty="0" err="1"/>
              <a:t>completed"group</a:t>
            </a:r>
            <a:r>
              <a:rPr lang="en-US" sz="1600" dirty="0"/>
              <a:t> by </a:t>
            </a:r>
            <a:r>
              <a:rPr lang="en-US" sz="1600" dirty="0" err="1"/>
              <a:t>pickup_locationorder</a:t>
            </a:r>
            <a:r>
              <a:rPr lang="en-US" sz="1600" dirty="0"/>
              <a:t> by 2 </a:t>
            </a:r>
            <a:r>
              <a:rPr lang="en-US" sz="1600" dirty="0" err="1"/>
              <a:t>desclimit</a:t>
            </a:r>
            <a:r>
              <a:rPr lang="en-US" sz="1600" dirty="0"/>
              <a:t> 10;</a:t>
            </a:r>
            <a:endParaRPr lang="en-IN" sz="1600" dirty="0"/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7DE7B619-942C-9A08-96CD-D7709F95260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42310310"/>
              </p:ext>
            </p:extLst>
          </p:nvPr>
        </p:nvGraphicFramePr>
        <p:xfrm>
          <a:off x="3372465" y="1976284"/>
          <a:ext cx="5486400" cy="27138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58454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58BF6A-72BD-F210-2461-0B3A09E12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E6633EC-7647-B8C0-A590-A079AA6C1EDA}"/>
              </a:ext>
            </a:extLst>
          </p:cNvPr>
          <p:cNvSpPr/>
          <p:nvPr/>
        </p:nvSpPr>
        <p:spPr>
          <a:xfrm>
            <a:off x="3264309" y="471949"/>
            <a:ext cx="5742038" cy="7570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Payment method wise revenue contribution</a:t>
            </a:r>
            <a:endParaRPr lang="en-IN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4B8A3A-6164-6753-B4E8-1026F420EFC9}"/>
              </a:ext>
            </a:extLst>
          </p:cNvPr>
          <p:cNvSpPr/>
          <p:nvPr/>
        </p:nvSpPr>
        <p:spPr>
          <a:xfrm>
            <a:off x="9094839" y="4168877"/>
            <a:ext cx="2910348" cy="25760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select </a:t>
            </a:r>
            <a:r>
              <a:rPr lang="en-US" sz="1600" dirty="0" err="1"/>
              <a:t>paymentmethod,round</a:t>
            </a:r>
            <a:r>
              <a:rPr lang="en-US" sz="1600" dirty="0"/>
              <a:t>((sum(</a:t>
            </a:r>
            <a:r>
              <a:rPr lang="en-US" sz="1600" dirty="0" err="1"/>
              <a:t>bookingvalue</a:t>
            </a:r>
            <a:r>
              <a:rPr lang="en-US" sz="1600" dirty="0"/>
              <a:t>)*100)/sum(sum(</a:t>
            </a:r>
            <a:r>
              <a:rPr lang="en-US" sz="1600" dirty="0" err="1"/>
              <a:t>bookingvalue</a:t>
            </a:r>
            <a:r>
              <a:rPr lang="en-US" sz="1600" dirty="0"/>
              <a:t>))over(),2) as </a:t>
            </a:r>
            <a:r>
              <a:rPr lang="en-US" sz="1600" dirty="0" err="1"/>
              <a:t>rev_perc,sum</a:t>
            </a:r>
            <a:r>
              <a:rPr lang="en-US" sz="1600" dirty="0"/>
              <a:t>(</a:t>
            </a:r>
            <a:r>
              <a:rPr lang="en-US" sz="1600" dirty="0" err="1"/>
              <a:t>bookingvalue</a:t>
            </a:r>
            <a:r>
              <a:rPr lang="en-US" sz="1600" dirty="0"/>
              <a:t>) as </a:t>
            </a:r>
            <a:r>
              <a:rPr lang="en-US" sz="1600" dirty="0" err="1"/>
              <a:t>Revenuefrom</a:t>
            </a:r>
            <a:r>
              <a:rPr lang="en-US" sz="1600" dirty="0"/>
              <a:t> </a:t>
            </a:r>
            <a:r>
              <a:rPr lang="en-US" sz="1600" dirty="0" err="1"/>
              <a:t>ridewhere</a:t>
            </a:r>
            <a:r>
              <a:rPr lang="en-US" sz="1600" dirty="0"/>
              <a:t> </a:t>
            </a:r>
            <a:r>
              <a:rPr lang="en-US" sz="1600" dirty="0" err="1"/>
              <a:t>booking_status</a:t>
            </a:r>
            <a:r>
              <a:rPr lang="en-US" sz="1600" dirty="0"/>
              <a:t>="</a:t>
            </a:r>
            <a:r>
              <a:rPr lang="en-US" sz="1600" dirty="0" err="1"/>
              <a:t>completed"group</a:t>
            </a:r>
            <a:r>
              <a:rPr lang="en-US" sz="1600" dirty="0"/>
              <a:t> by </a:t>
            </a:r>
            <a:r>
              <a:rPr lang="en-US" sz="1600" dirty="0" err="1"/>
              <a:t>paymentmethod</a:t>
            </a:r>
            <a:r>
              <a:rPr lang="en-US" sz="1600" dirty="0"/>
              <a:t>;</a:t>
            </a:r>
            <a:endParaRPr lang="en-IN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A8BAB35-FFA2-4552-9FA3-3AE6ED8BA8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0619" y="2192594"/>
            <a:ext cx="5309419" cy="1976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178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51CEBD-0528-0925-15AA-9C67271A3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B57633A-69F2-EC5F-AB17-4E62510EF592}"/>
              </a:ext>
            </a:extLst>
          </p:cNvPr>
          <p:cNvSpPr/>
          <p:nvPr/>
        </p:nvSpPr>
        <p:spPr>
          <a:xfrm>
            <a:off x="3264309" y="471949"/>
            <a:ext cx="5742038" cy="7570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Payment method wise completed rides</a:t>
            </a:r>
            <a:endParaRPr lang="en-IN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783088-8B85-1562-8A76-8FEA9D9327B5}"/>
              </a:ext>
            </a:extLst>
          </p:cNvPr>
          <p:cNvSpPr/>
          <p:nvPr/>
        </p:nvSpPr>
        <p:spPr>
          <a:xfrm>
            <a:off x="9085007" y="4100051"/>
            <a:ext cx="2910348" cy="25760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select </a:t>
            </a:r>
            <a:r>
              <a:rPr lang="en-US" sz="1600" dirty="0" err="1"/>
              <a:t>paymentmethod,count</a:t>
            </a:r>
            <a:r>
              <a:rPr lang="en-US" sz="1600" dirty="0"/>
              <a:t>(</a:t>
            </a:r>
            <a:r>
              <a:rPr lang="en-US" sz="1600" dirty="0" err="1"/>
              <a:t>bookingid</a:t>
            </a:r>
            <a:r>
              <a:rPr lang="en-US" sz="1600" dirty="0"/>
              <a:t>) as </a:t>
            </a:r>
            <a:r>
              <a:rPr lang="en-US" sz="1600" dirty="0" err="1"/>
              <a:t>no_of_completedridesfrom</a:t>
            </a:r>
            <a:r>
              <a:rPr lang="en-US" sz="1600" dirty="0"/>
              <a:t> </a:t>
            </a:r>
            <a:r>
              <a:rPr lang="en-US" sz="1600" dirty="0" err="1"/>
              <a:t>ridewhere</a:t>
            </a:r>
            <a:r>
              <a:rPr lang="en-US" sz="1600" dirty="0"/>
              <a:t> </a:t>
            </a:r>
            <a:r>
              <a:rPr lang="en-US" sz="1600" dirty="0" err="1"/>
              <a:t>booking_status</a:t>
            </a:r>
            <a:r>
              <a:rPr lang="en-US" sz="1600" dirty="0"/>
              <a:t>="</a:t>
            </a:r>
            <a:r>
              <a:rPr lang="en-US" sz="1600" dirty="0" err="1"/>
              <a:t>completed"group</a:t>
            </a:r>
            <a:r>
              <a:rPr lang="en-US" sz="1600" dirty="0"/>
              <a:t> by </a:t>
            </a:r>
            <a:r>
              <a:rPr lang="en-US" sz="1600" dirty="0" err="1"/>
              <a:t>paymentmethodorder</a:t>
            </a:r>
            <a:r>
              <a:rPr lang="en-US" sz="1600" dirty="0"/>
              <a:t> by 2 desc;</a:t>
            </a:r>
            <a:endParaRPr lang="en-IN" sz="1600" dirty="0"/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2ADFE106-C82F-D6F2-FCBB-446D1CBD7F8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07683722"/>
              </p:ext>
            </p:extLst>
          </p:nvPr>
        </p:nvGraphicFramePr>
        <p:xfrm>
          <a:off x="3608439" y="2057400"/>
          <a:ext cx="5171767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99829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CBC732-C1D4-B028-F52B-14743699B0EB}"/>
              </a:ext>
            </a:extLst>
          </p:cNvPr>
          <p:cNvSpPr/>
          <p:nvPr/>
        </p:nvSpPr>
        <p:spPr>
          <a:xfrm>
            <a:off x="3264309" y="471949"/>
            <a:ext cx="5742038" cy="7570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Peak hours</a:t>
            </a:r>
            <a:endParaRPr lang="en-IN" sz="2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D39A49-444C-05A8-16EE-2498D19E74F4}"/>
              </a:ext>
            </a:extLst>
          </p:cNvPr>
          <p:cNvSpPr/>
          <p:nvPr/>
        </p:nvSpPr>
        <p:spPr>
          <a:xfrm>
            <a:off x="9085007" y="4100051"/>
            <a:ext cx="2910348" cy="25760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select hour(</a:t>
            </a:r>
            <a:r>
              <a:rPr lang="en-US" sz="1600" dirty="0" err="1"/>
              <a:t>booking_time_new</a:t>
            </a:r>
            <a:r>
              <a:rPr lang="en-US" sz="1600" dirty="0"/>
              <a:t>) as </a:t>
            </a:r>
            <a:r>
              <a:rPr lang="en-US" sz="1600" dirty="0" err="1"/>
              <a:t>booking_hour</a:t>
            </a:r>
            <a:r>
              <a:rPr lang="en-US" sz="1600" dirty="0"/>
              <a:t>, count(</a:t>
            </a:r>
            <a:r>
              <a:rPr lang="en-US" sz="1600" dirty="0" err="1"/>
              <a:t>bookingid</a:t>
            </a:r>
            <a:r>
              <a:rPr lang="en-US" sz="1600" dirty="0"/>
              <a:t>) as </a:t>
            </a:r>
            <a:r>
              <a:rPr lang="en-US" sz="1600" dirty="0" err="1"/>
              <a:t>NoOfBookingsfrom</a:t>
            </a:r>
            <a:r>
              <a:rPr lang="en-US" sz="1600" dirty="0"/>
              <a:t> </a:t>
            </a:r>
            <a:r>
              <a:rPr lang="en-US" sz="1600" dirty="0" err="1"/>
              <a:t>ridewhere</a:t>
            </a:r>
            <a:r>
              <a:rPr lang="en-US" sz="1600" dirty="0"/>
              <a:t> </a:t>
            </a:r>
            <a:r>
              <a:rPr lang="en-US" sz="1600" dirty="0" err="1"/>
              <a:t>booking_status</a:t>
            </a:r>
            <a:r>
              <a:rPr lang="en-US" sz="1600" dirty="0"/>
              <a:t>="</a:t>
            </a:r>
            <a:r>
              <a:rPr lang="en-US" sz="1600" dirty="0" err="1"/>
              <a:t>completed"group</a:t>
            </a:r>
            <a:r>
              <a:rPr lang="en-US" sz="1600" dirty="0"/>
              <a:t> by hour(</a:t>
            </a:r>
            <a:r>
              <a:rPr lang="en-US" sz="1600" dirty="0" err="1"/>
              <a:t>booking_time_new</a:t>
            </a:r>
            <a:r>
              <a:rPr lang="en-US" sz="1600" dirty="0"/>
              <a:t>)order by 2 desc limit 5;</a:t>
            </a:r>
            <a:endParaRPr lang="en-IN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B41649A-BA9A-5179-407E-C83CC5CF60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8542" y="1809135"/>
            <a:ext cx="4011561" cy="2448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097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AFAB256-7623-3343-EB1E-7F673F68FAEE}"/>
              </a:ext>
            </a:extLst>
          </p:cNvPr>
          <p:cNvSpPr/>
          <p:nvPr/>
        </p:nvSpPr>
        <p:spPr>
          <a:xfrm>
            <a:off x="3264309" y="471949"/>
            <a:ext cx="5742038" cy="7570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High demand days(top 10)</a:t>
            </a:r>
            <a:endParaRPr lang="en-IN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36D09D-381C-6F15-EAD7-EB86E968D2D0}"/>
              </a:ext>
            </a:extLst>
          </p:cNvPr>
          <p:cNvSpPr/>
          <p:nvPr/>
        </p:nvSpPr>
        <p:spPr>
          <a:xfrm>
            <a:off x="9085007" y="2644877"/>
            <a:ext cx="2910348" cy="40312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select </a:t>
            </a:r>
            <a:r>
              <a:rPr lang="en-US" sz="1600" dirty="0" err="1"/>
              <a:t>booking_date_new,count</a:t>
            </a:r>
            <a:r>
              <a:rPr lang="en-US" sz="1600" dirty="0"/>
              <a:t>(</a:t>
            </a:r>
            <a:r>
              <a:rPr lang="en-US" sz="1600" dirty="0" err="1"/>
              <a:t>bookingid</a:t>
            </a:r>
            <a:r>
              <a:rPr lang="en-US" sz="1600" dirty="0"/>
              <a:t>) as </a:t>
            </a:r>
            <a:r>
              <a:rPr lang="en-US" sz="1600" dirty="0" err="1"/>
              <a:t>NoOfBookingsDailyfrom</a:t>
            </a:r>
            <a:r>
              <a:rPr lang="en-US" sz="1600" dirty="0"/>
              <a:t> </a:t>
            </a:r>
            <a:r>
              <a:rPr lang="en-US" sz="1600" dirty="0" err="1"/>
              <a:t>ridewhere</a:t>
            </a:r>
            <a:r>
              <a:rPr lang="en-US" sz="1600" dirty="0"/>
              <a:t> </a:t>
            </a:r>
            <a:r>
              <a:rPr lang="en-US" sz="1600" dirty="0" err="1"/>
              <a:t>booking_status</a:t>
            </a:r>
            <a:r>
              <a:rPr lang="en-US" sz="1600" dirty="0"/>
              <a:t>="completed" group by </a:t>
            </a:r>
            <a:r>
              <a:rPr lang="en-US" sz="1600" dirty="0" err="1"/>
              <a:t>booking_date_newhaving</a:t>
            </a:r>
            <a:r>
              <a:rPr lang="en-US" sz="1600" dirty="0"/>
              <a:t> count(</a:t>
            </a:r>
            <a:r>
              <a:rPr lang="en-US" sz="1600" dirty="0" err="1"/>
              <a:t>bookingid</a:t>
            </a:r>
            <a:r>
              <a:rPr lang="en-US" sz="1600" dirty="0"/>
              <a:t>)&gt;(select round(avg(</a:t>
            </a:r>
            <a:r>
              <a:rPr lang="en-US" sz="1600" dirty="0" err="1"/>
              <a:t>NoOfBookingsDaily</a:t>
            </a:r>
            <a:r>
              <a:rPr lang="en-US" sz="1600" dirty="0"/>
              <a:t>),2)from(select </a:t>
            </a:r>
            <a:r>
              <a:rPr lang="en-US" sz="1600" dirty="0" err="1"/>
              <a:t>booking_date_new,count</a:t>
            </a:r>
            <a:r>
              <a:rPr lang="en-US" sz="1600" dirty="0"/>
              <a:t>(</a:t>
            </a:r>
            <a:r>
              <a:rPr lang="en-US" sz="1600" dirty="0" err="1"/>
              <a:t>bookingid</a:t>
            </a:r>
            <a:r>
              <a:rPr lang="en-US" sz="1600" dirty="0"/>
              <a:t>) as </a:t>
            </a:r>
            <a:r>
              <a:rPr lang="en-US" sz="1600" dirty="0" err="1"/>
              <a:t>NoOfBookingsDailyfrom</a:t>
            </a:r>
            <a:r>
              <a:rPr lang="en-US" sz="1600" dirty="0"/>
              <a:t> </a:t>
            </a:r>
            <a:r>
              <a:rPr lang="en-US" sz="1600" dirty="0" err="1"/>
              <a:t>ridewhere</a:t>
            </a:r>
            <a:r>
              <a:rPr lang="en-US" sz="1600" dirty="0"/>
              <a:t> </a:t>
            </a:r>
            <a:r>
              <a:rPr lang="en-US" sz="1600" dirty="0" err="1"/>
              <a:t>booking_status</a:t>
            </a:r>
            <a:r>
              <a:rPr lang="en-US" sz="1600" dirty="0"/>
              <a:t>="</a:t>
            </a:r>
            <a:r>
              <a:rPr lang="en-US" sz="1600" dirty="0" err="1"/>
              <a:t>completed"group</a:t>
            </a:r>
            <a:r>
              <a:rPr lang="en-US" sz="1600" dirty="0"/>
              <a:t> by </a:t>
            </a:r>
            <a:r>
              <a:rPr lang="en-US" sz="1600" dirty="0" err="1"/>
              <a:t>booking_date_new</a:t>
            </a:r>
            <a:r>
              <a:rPr lang="en-US" sz="1600" dirty="0"/>
              <a:t>) as AB)order by 2 desc</a:t>
            </a:r>
          </a:p>
          <a:p>
            <a:pPr algn="ctr"/>
            <a:r>
              <a:rPr lang="en-US" sz="1600" dirty="0"/>
              <a:t>Limit 10;</a:t>
            </a:r>
            <a:endParaRPr lang="en-IN" sz="16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F5AC4BC-B176-09C8-6E92-8908A8473D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3010" y="1691148"/>
            <a:ext cx="3810280" cy="3293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9903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E350125-634E-958B-190F-51981453E4C4}"/>
              </a:ext>
            </a:extLst>
          </p:cNvPr>
          <p:cNvSpPr/>
          <p:nvPr/>
        </p:nvSpPr>
        <p:spPr>
          <a:xfrm>
            <a:off x="2493818" y="419994"/>
            <a:ext cx="7491846" cy="7570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Hour wise booking volume during high demand days</a:t>
            </a:r>
            <a:endParaRPr lang="en-IN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79126A-6AB2-ECF5-4F11-97BFA6F01615}"/>
              </a:ext>
            </a:extLst>
          </p:cNvPr>
          <p:cNvSpPr/>
          <p:nvPr/>
        </p:nvSpPr>
        <p:spPr>
          <a:xfrm>
            <a:off x="301336" y="5714999"/>
            <a:ext cx="11694019" cy="9611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select hour(booking_time_new) as booking_hour,count(bookingid) as noOFbookingsfrom ridewhere booking_status="completed"and booking_date_new in (select booking_date_newfrom ridewhere booking_status="completed" group by booking_date_newhaving count(bookingid)&gt;(select round(avg(NoOfBookingsDaily),2)from(select booking_date_new,count(bookingid) as NoOfBookingsDailyfrom ridewhere booking_status="completed"group by booking_date_new) as AB))group by hour(booking_time_new)order by 1;</a:t>
            </a:r>
            <a:endParaRPr lang="en-IN" sz="1600" dirty="0"/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6ABD848F-DE55-AF80-A441-E833F39C9E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74176144"/>
              </p:ext>
            </p:extLst>
          </p:nvPr>
        </p:nvGraphicFramePr>
        <p:xfrm>
          <a:off x="3377045" y="1766455"/>
          <a:ext cx="6026728" cy="31692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15550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BE8BECC-BFD2-0EBF-5073-D782A16BC813}"/>
              </a:ext>
            </a:extLst>
          </p:cNvPr>
          <p:cNvSpPr/>
          <p:nvPr/>
        </p:nvSpPr>
        <p:spPr>
          <a:xfrm>
            <a:off x="3224981" y="471949"/>
            <a:ext cx="5742038" cy="7570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Monthly bookings &amp; revenue trend</a:t>
            </a:r>
            <a:endParaRPr lang="en-IN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AC421B-C029-95C1-A84A-853189DFFE78}"/>
              </a:ext>
            </a:extLst>
          </p:cNvPr>
          <p:cNvSpPr/>
          <p:nvPr/>
        </p:nvSpPr>
        <p:spPr>
          <a:xfrm>
            <a:off x="1194955" y="5919018"/>
            <a:ext cx="9902536" cy="7570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select month(</a:t>
            </a:r>
            <a:r>
              <a:rPr lang="en-US" sz="1600" dirty="0" err="1"/>
              <a:t>booking_date_new</a:t>
            </a:r>
            <a:r>
              <a:rPr lang="en-US" sz="1600" dirty="0"/>
              <a:t>),</a:t>
            </a:r>
            <a:r>
              <a:rPr lang="en-US" sz="1600" dirty="0" err="1"/>
              <a:t>monthname</a:t>
            </a:r>
            <a:r>
              <a:rPr lang="en-US" sz="1600" dirty="0"/>
              <a:t>(</a:t>
            </a:r>
            <a:r>
              <a:rPr lang="en-US" sz="1600" dirty="0" err="1"/>
              <a:t>booking_date_new</a:t>
            </a:r>
            <a:r>
              <a:rPr lang="en-US" sz="1600" dirty="0"/>
              <a:t>),count(</a:t>
            </a:r>
            <a:r>
              <a:rPr lang="en-US" sz="1600" dirty="0" err="1"/>
              <a:t>bookingid</a:t>
            </a:r>
            <a:r>
              <a:rPr lang="en-US" sz="1600" dirty="0"/>
              <a:t>) as </a:t>
            </a:r>
            <a:r>
              <a:rPr lang="en-US" sz="1600" dirty="0" err="1"/>
              <a:t>noOFbookings,sum</a:t>
            </a:r>
            <a:r>
              <a:rPr lang="en-US" sz="1600" dirty="0"/>
              <a:t>(</a:t>
            </a:r>
            <a:r>
              <a:rPr lang="en-US" sz="1600" dirty="0" err="1"/>
              <a:t>bookingvalue</a:t>
            </a:r>
            <a:r>
              <a:rPr lang="en-US" sz="1600" dirty="0"/>
              <a:t>) as </a:t>
            </a:r>
            <a:r>
              <a:rPr lang="en-US" sz="1600" dirty="0" err="1"/>
              <a:t>totalRevenuefrom</a:t>
            </a:r>
            <a:r>
              <a:rPr lang="en-US" sz="1600" dirty="0"/>
              <a:t> </a:t>
            </a:r>
            <a:r>
              <a:rPr lang="en-US" sz="1600" dirty="0" err="1"/>
              <a:t>ridewhere</a:t>
            </a:r>
            <a:r>
              <a:rPr lang="en-US" sz="1600" dirty="0"/>
              <a:t> </a:t>
            </a:r>
            <a:r>
              <a:rPr lang="en-US" sz="1600" dirty="0" err="1"/>
              <a:t>booking_status</a:t>
            </a:r>
            <a:r>
              <a:rPr lang="en-US" sz="1600" dirty="0"/>
              <a:t>="</a:t>
            </a:r>
            <a:r>
              <a:rPr lang="en-US" sz="1600" dirty="0" err="1"/>
              <a:t>completed"group</a:t>
            </a:r>
            <a:r>
              <a:rPr lang="en-US" sz="1600" dirty="0"/>
              <a:t> by month(</a:t>
            </a:r>
            <a:r>
              <a:rPr lang="en-US" sz="1600" dirty="0" err="1"/>
              <a:t>booking_date_new</a:t>
            </a:r>
            <a:r>
              <a:rPr lang="en-US" sz="1600" dirty="0"/>
              <a:t>),</a:t>
            </a:r>
            <a:r>
              <a:rPr lang="en-US" sz="1600" dirty="0" err="1"/>
              <a:t>monthname</a:t>
            </a:r>
            <a:r>
              <a:rPr lang="en-US" sz="1600" dirty="0"/>
              <a:t>(</a:t>
            </a:r>
            <a:r>
              <a:rPr lang="en-US" sz="1600" dirty="0" err="1"/>
              <a:t>booking_date_new</a:t>
            </a:r>
            <a:r>
              <a:rPr lang="en-US" sz="1600" dirty="0"/>
              <a:t>)order by 1;</a:t>
            </a:r>
            <a:endParaRPr lang="en-IN" sz="1600" dirty="0"/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34BDB8F4-1724-9B33-C09C-3446065BBCE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14113580"/>
              </p:ext>
            </p:extLst>
          </p:nvPr>
        </p:nvGraphicFramePr>
        <p:xfrm>
          <a:off x="6681019" y="1828800"/>
          <a:ext cx="4572000" cy="27431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4FEB2396-44BE-0DA3-F8BA-BC767405C6E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34076339"/>
              </p:ext>
            </p:extLst>
          </p:nvPr>
        </p:nvGraphicFramePr>
        <p:xfrm>
          <a:off x="1274618" y="1971500"/>
          <a:ext cx="4572000" cy="26004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5877379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D5C1BF1-3B54-B71D-7425-AF2632F28017}"/>
              </a:ext>
            </a:extLst>
          </p:cNvPr>
          <p:cNvSpPr/>
          <p:nvPr/>
        </p:nvSpPr>
        <p:spPr>
          <a:xfrm>
            <a:off x="2971800" y="471949"/>
            <a:ext cx="6113207" cy="7570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Reasons behind ride cancellation by customer</a:t>
            </a:r>
            <a:endParaRPr lang="en-IN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BC6ABD-5E45-D99F-A99F-B21001C46BFE}"/>
              </a:ext>
            </a:extLst>
          </p:cNvPr>
          <p:cNvSpPr/>
          <p:nvPr/>
        </p:nvSpPr>
        <p:spPr>
          <a:xfrm>
            <a:off x="9085007" y="4343399"/>
            <a:ext cx="2910348" cy="23327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select </a:t>
            </a:r>
            <a:r>
              <a:rPr lang="en-US" sz="1600" dirty="0" err="1"/>
              <a:t>Customer_cancellation_reason,count</a:t>
            </a:r>
            <a:r>
              <a:rPr lang="en-US" sz="1600" dirty="0"/>
              <a:t>(*) as count from </a:t>
            </a:r>
            <a:r>
              <a:rPr lang="en-US" sz="1600" dirty="0" err="1"/>
              <a:t>ridewhere</a:t>
            </a:r>
            <a:r>
              <a:rPr lang="en-US" sz="1600" dirty="0"/>
              <a:t> </a:t>
            </a:r>
            <a:r>
              <a:rPr lang="en-US" sz="1600" dirty="0" err="1"/>
              <a:t>Customer_cancellation_reason</a:t>
            </a:r>
            <a:r>
              <a:rPr lang="en-US" sz="1600" dirty="0"/>
              <a:t>&lt;&gt;"</a:t>
            </a:r>
            <a:r>
              <a:rPr lang="en-US" sz="1600" dirty="0" err="1"/>
              <a:t>null"group</a:t>
            </a:r>
            <a:r>
              <a:rPr lang="en-US" sz="1600" dirty="0"/>
              <a:t> by </a:t>
            </a:r>
            <a:r>
              <a:rPr lang="en-US" sz="1600" dirty="0" err="1"/>
              <a:t>Customer_cancellation_reasonorder</a:t>
            </a:r>
            <a:r>
              <a:rPr lang="en-US" sz="1600" dirty="0"/>
              <a:t> by 2 desc;</a:t>
            </a:r>
            <a:endParaRPr lang="en-IN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E01EA62-B20A-971D-E55C-E964B90D23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1282" y="1901536"/>
            <a:ext cx="4509654" cy="2441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4405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018CEE4-40CA-B985-497B-E1A5BC5D98B9}"/>
              </a:ext>
            </a:extLst>
          </p:cNvPr>
          <p:cNvSpPr/>
          <p:nvPr/>
        </p:nvSpPr>
        <p:spPr>
          <a:xfrm>
            <a:off x="2971800" y="471949"/>
            <a:ext cx="6113207" cy="7570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Reasons behind ride cancellation by driver</a:t>
            </a:r>
            <a:endParaRPr lang="en-IN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9D482E-87F3-0C21-4C4D-5916972D00BE}"/>
              </a:ext>
            </a:extLst>
          </p:cNvPr>
          <p:cNvSpPr/>
          <p:nvPr/>
        </p:nvSpPr>
        <p:spPr>
          <a:xfrm>
            <a:off x="9001880" y="4307088"/>
            <a:ext cx="2910348" cy="23327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select </a:t>
            </a:r>
            <a:r>
              <a:rPr lang="en-US" sz="1600" dirty="0" err="1"/>
              <a:t>driver_cancellation_reason,count</a:t>
            </a:r>
            <a:r>
              <a:rPr lang="en-US" sz="1600" dirty="0"/>
              <a:t>(*) as count from </a:t>
            </a:r>
            <a:r>
              <a:rPr lang="en-US" sz="1600" dirty="0" err="1"/>
              <a:t>ridewhere</a:t>
            </a:r>
            <a:r>
              <a:rPr lang="en-US" sz="1600" dirty="0"/>
              <a:t> </a:t>
            </a:r>
            <a:r>
              <a:rPr lang="en-US" sz="1600" dirty="0" err="1"/>
              <a:t>driver_cancellation_reason</a:t>
            </a:r>
            <a:r>
              <a:rPr lang="en-US" sz="1600" dirty="0"/>
              <a:t>&lt;&gt;"</a:t>
            </a:r>
            <a:r>
              <a:rPr lang="en-US" sz="1600" dirty="0" err="1"/>
              <a:t>null"group</a:t>
            </a:r>
            <a:r>
              <a:rPr lang="en-US" sz="1600" dirty="0"/>
              <a:t> by </a:t>
            </a:r>
            <a:r>
              <a:rPr lang="en-US" sz="1600" dirty="0" err="1"/>
              <a:t>driver_cancellation_reasonorder</a:t>
            </a:r>
            <a:r>
              <a:rPr lang="en-US" sz="1600" dirty="0"/>
              <a:t> by 2 desc;</a:t>
            </a:r>
            <a:endParaRPr lang="en-IN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72265EF-8FD6-F54A-B350-293EDD0C77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1" y="1735282"/>
            <a:ext cx="3730336" cy="2571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2495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5E3A61E-5D10-C33A-3A81-8E70A4158658}"/>
              </a:ext>
            </a:extLst>
          </p:cNvPr>
          <p:cNvSpPr/>
          <p:nvPr/>
        </p:nvSpPr>
        <p:spPr>
          <a:xfrm>
            <a:off x="2265218" y="471949"/>
            <a:ext cx="7481455" cy="7570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Top 5 Pickup locations with highest driver-cancellation rate</a:t>
            </a:r>
            <a:endParaRPr lang="en-IN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DDF2A0-B12B-BCB3-6D7C-0D0E0FDADFDC}"/>
              </a:ext>
            </a:extLst>
          </p:cNvPr>
          <p:cNvSpPr/>
          <p:nvPr/>
        </p:nvSpPr>
        <p:spPr>
          <a:xfrm>
            <a:off x="9001880" y="3356264"/>
            <a:ext cx="2910348" cy="32835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select </a:t>
            </a:r>
            <a:r>
              <a:rPr lang="en-US" sz="1600" dirty="0" err="1"/>
              <a:t>pickup_location</a:t>
            </a:r>
            <a:r>
              <a:rPr lang="en-US" sz="1600" dirty="0"/>
              <a:t>, count(</a:t>
            </a:r>
            <a:r>
              <a:rPr lang="en-US" sz="1600" dirty="0" err="1"/>
              <a:t>bookingid</a:t>
            </a:r>
            <a:r>
              <a:rPr lang="en-US" sz="1600" dirty="0"/>
              <a:t>) as </a:t>
            </a:r>
            <a:r>
              <a:rPr lang="en-US" sz="1600" dirty="0" err="1"/>
              <a:t>noOfBookings</a:t>
            </a:r>
            <a:r>
              <a:rPr lang="en-US" sz="1600" dirty="0"/>
              <a:t>,(sum(if(</a:t>
            </a:r>
            <a:r>
              <a:rPr lang="en-US" sz="1600" dirty="0" err="1"/>
              <a:t>booking_status</a:t>
            </a:r>
            <a:r>
              <a:rPr lang="en-US" sz="1600" dirty="0"/>
              <a:t>="cancelled by driver",1,0))/sum(if(</a:t>
            </a:r>
            <a:r>
              <a:rPr lang="en-US" sz="1600" dirty="0" err="1"/>
              <a:t>booking_status</a:t>
            </a:r>
            <a:r>
              <a:rPr lang="en-US" sz="1600" dirty="0"/>
              <a:t> in ("cancelled by </a:t>
            </a:r>
            <a:r>
              <a:rPr lang="en-US" sz="1600" dirty="0" err="1"/>
              <a:t>driver","cancelled</a:t>
            </a:r>
            <a:r>
              <a:rPr lang="en-US" sz="1600" dirty="0"/>
              <a:t> by </a:t>
            </a:r>
            <a:r>
              <a:rPr lang="en-US" sz="1600" dirty="0" err="1"/>
              <a:t>customer","completed</a:t>
            </a:r>
            <a:r>
              <a:rPr lang="en-US" sz="1600" dirty="0"/>
              <a:t>"),1,0)))*100 as </a:t>
            </a:r>
            <a:r>
              <a:rPr lang="en-US" sz="1600" dirty="0" err="1"/>
              <a:t>driver_cancellation_ratefrom</a:t>
            </a:r>
            <a:r>
              <a:rPr lang="en-US" sz="1600" dirty="0"/>
              <a:t> </a:t>
            </a:r>
            <a:r>
              <a:rPr lang="en-US" sz="1600" dirty="0" err="1"/>
              <a:t>ridegroup</a:t>
            </a:r>
            <a:r>
              <a:rPr lang="en-US" sz="1600" dirty="0"/>
              <a:t> by </a:t>
            </a:r>
            <a:r>
              <a:rPr lang="en-US" sz="1600" dirty="0" err="1"/>
              <a:t>pickup_locationorder</a:t>
            </a:r>
            <a:r>
              <a:rPr lang="en-US" sz="1600" dirty="0"/>
              <a:t> by 3 desc limit 5;</a:t>
            </a:r>
            <a:endParaRPr lang="en-IN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FF24753-FA96-850E-FA52-28348CFC1C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9717" y="2005445"/>
            <a:ext cx="4073237" cy="2140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754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76F03FF-1CDD-EE21-D00A-1F9F0D65D158}"/>
              </a:ext>
            </a:extLst>
          </p:cNvPr>
          <p:cNvSpPr/>
          <p:nvPr/>
        </p:nvSpPr>
        <p:spPr>
          <a:xfrm>
            <a:off x="2265218" y="471949"/>
            <a:ext cx="7481455" cy="7570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Vehicle wise number of bookings</a:t>
            </a:r>
            <a:endParaRPr lang="en-IN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33427C-6E9B-A1C1-8DA7-19644C650349}"/>
              </a:ext>
            </a:extLst>
          </p:cNvPr>
          <p:cNvSpPr/>
          <p:nvPr/>
        </p:nvSpPr>
        <p:spPr>
          <a:xfrm>
            <a:off x="9001880" y="4499264"/>
            <a:ext cx="2910348" cy="21405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select </a:t>
            </a:r>
            <a:r>
              <a:rPr lang="en-US" sz="1600" dirty="0" err="1"/>
              <a:t>vehicle_type,count</a:t>
            </a:r>
            <a:r>
              <a:rPr lang="en-US" sz="1600" dirty="0"/>
              <a:t>(*) as </a:t>
            </a:r>
            <a:r>
              <a:rPr lang="en-US" sz="1600" dirty="0" err="1"/>
              <a:t>noOFbookingsfrom</a:t>
            </a:r>
            <a:r>
              <a:rPr lang="en-US" sz="1600" dirty="0"/>
              <a:t> </a:t>
            </a:r>
            <a:r>
              <a:rPr lang="en-US" sz="1600" dirty="0" err="1"/>
              <a:t>ridewhere</a:t>
            </a:r>
            <a:r>
              <a:rPr lang="en-US" sz="1600" dirty="0"/>
              <a:t> </a:t>
            </a:r>
            <a:r>
              <a:rPr lang="en-US" sz="1600" dirty="0" err="1"/>
              <a:t>booking_status</a:t>
            </a:r>
            <a:r>
              <a:rPr lang="en-US" sz="1600" dirty="0"/>
              <a:t>="</a:t>
            </a:r>
            <a:r>
              <a:rPr lang="en-US" sz="1600" dirty="0" err="1"/>
              <a:t>completed"group</a:t>
            </a:r>
            <a:r>
              <a:rPr lang="en-US" sz="1600" dirty="0"/>
              <a:t> by </a:t>
            </a:r>
            <a:r>
              <a:rPr lang="en-US" sz="1600" dirty="0" err="1"/>
              <a:t>vehicle_type</a:t>
            </a:r>
            <a:r>
              <a:rPr lang="en-US" sz="1600" dirty="0"/>
              <a:t>;</a:t>
            </a:r>
            <a:endParaRPr lang="en-IN" sz="1600" dirty="0"/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6465A184-3E05-2E3F-2895-341D543D51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00365373"/>
              </p:ext>
            </p:extLst>
          </p:nvPr>
        </p:nvGraphicFramePr>
        <p:xfrm>
          <a:off x="3647209" y="2057400"/>
          <a:ext cx="4821382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001229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0179806-F045-5B5B-8919-D0F75922FA3E}"/>
              </a:ext>
            </a:extLst>
          </p:cNvPr>
          <p:cNvSpPr/>
          <p:nvPr/>
        </p:nvSpPr>
        <p:spPr>
          <a:xfrm>
            <a:off x="2265218" y="471949"/>
            <a:ext cx="7481455" cy="7570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Vehicle wise Revenue</a:t>
            </a:r>
            <a:endParaRPr lang="en-IN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00D61B-F3F7-A7FB-88F9-E90D9CACD614}"/>
              </a:ext>
            </a:extLst>
          </p:cNvPr>
          <p:cNvSpPr/>
          <p:nvPr/>
        </p:nvSpPr>
        <p:spPr>
          <a:xfrm>
            <a:off x="9001880" y="4499264"/>
            <a:ext cx="2910348" cy="21405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select </a:t>
            </a:r>
            <a:r>
              <a:rPr lang="en-US" sz="1600" dirty="0" err="1"/>
              <a:t>vehicle_type,sum</a:t>
            </a:r>
            <a:r>
              <a:rPr lang="en-US" sz="1600" dirty="0"/>
              <a:t>(</a:t>
            </a:r>
            <a:r>
              <a:rPr lang="en-US" sz="1600" dirty="0" err="1"/>
              <a:t>bookingvalue</a:t>
            </a:r>
            <a:r>
              <a:rPr lang="en-US" sz="1600" dirty="0"/>
              <a:t>) as </a:t>
            </a:r>
            <a:r>
              <a:rPr lang="en-US" sz="1600" dirty="0" err="1"/>
              <a:t>TotalRevenuefrom</a:t>
            </a:r>
            <a:r>
              <a:rPr lang="en-US" sz="1600" dirty="0"/>
              <a:t> </a:t>
            </a:r>
            <a:r>
              <a:rPr lang="en-US" sz="1600" dirty="0" err="1"/>
              <a:t>ridewhere</a:t>
            </a:r>
            <a:r>
              <a:rPr lang="en-US" sz="1600" dirty="0"/>
              <a:t> </a:t>
            </a:r>
            <a:r>
              <a:rPr lang="en-US" sz="1600" dirty="0" err="1"/>
              <a:t>booking_status</a:t>
            </a:r>
            <a:r>
              <a:rPr lang="en-US" sz="1600" dirty="0"/>
              <a:t>="</a:t>
            </a:r>
            <a:r>
              <a:rPr lang="en-US" sz="1600" dirty="0" err="1"/>
              <a:t>completed"group</a:t>
            </a:r>
            <a:r>
              <a:rPr lang="en-US" sz="1600" dirty="0"/>
              <a:t> by </a:t>
            </a:r>
            <a:r>
              <a:rPr lang="en-US" sz="1600" dirty="0" err="1"/>
              <a:t>vehicle_type</a:t>
            </a:r>
            <a:r>
              <a:rPr lang="en-US" sz="1600" dirty="0"/>
              <a:t>;</a:t>
            </a:r>
            <a:endParaRPr lang="en-IN" sz="1600" dirty="0"/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FAB88949-D0AF-0809-3DF6-43255C9F4D6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41107386"/>
              </p:ext>
            </p:extLst>
          </p:nvPr>
        </p:nvGraphicFramePr>
        <p:xfrm>
          <a:off x="3605645" y="1901536"/>
          <a:ext cx="5008419" cy="28990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260009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7B2A1E1-EEC1-FADE-1922-BCE28477A203}"/>
              </a:ext>
            </a:extLst>
          </p:cNvPr>
          <p:cNvSpPr/>
          <p:nvPr/>
        </p:nvSpPr>
        <p:spPr>
          <a:xfrm>
            <a:off x="3441290" y="457200"/>
            <a:ext cx="4925961" cy="8259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Insights from data</a:t>
            </a:r>
            <a:endParaRPr lang="en-IN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F19397-AABA-0BAE-0561-FA59CCDC1002}"/>
              </a:ext>
            </a:extLst>
          </p:cNvPr>
          <p:cNvSpPr/>
          <p:nvPr/>
        </p:nvSpPr>
        <p:spPr>
          <a:xfrm>
            <a:off x="1071716" y="1837664"/>
            <a:ext cx="10048568" cy="44638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   </a:t>
            </a:r>
            <a:r>
              <a:rPr lang="en-IN" dirty="0">
                <a:solidFill>
                  <a:schemeClr val="bg1"/>
                </a:solidFill>
              </a:rPr>
              <a:t>1. Peak booking hours are 9 am -11am. and  5pm- 8 pm. </a:t>
            </a:r>
          </a:p>
          <a:p>
            <a:pPr>
              <a:lnSpc>
                <a:spcPct val="100000"/>
              </a:lnSpc>
            </a:pPr>
            <a:r>
              <a:rPr lang="en-IN" dirty="0">
                <a:solidFill>
                  <a:schemeClr val="bg1"/>
                </a:solidFill>
              </a:rPr>
              <a:t>    2. </a:t>
            </a:r>
            <a:r>
              <a:rPr lang="en-IN" dirty="0"/>
              <a:t>UPI is the leading payment method, accounting for the highest number of completed rides, followed by Cash . UPI accounts for highest share of revenue.</a:t>
            </a:r>
          </a:p>
          <a:p>
            <a:pPr>
              <a:lnSpc>
                <a:spcPct val="100000"/>
              </a:lnSpc>
            </a:pPr>
            <a:r>
              <a:rPr lang="en-IN" dirty="0">
                <a:solidFill>
                  <a:schemeClr val="bg2">
                    <a:lumMod val="25000"/>
                  </a:schemeClr>
                </a:solidFill>
              </a:rPr>
              <a:t>   </a:t>
            </a:r>
            <a:r>
              <a:rPr lang="en-IN" dirty="0">
                <a:solidFill>
                  <a:schemeClr val="bg1"/>
                </a:solidFill>
              </a:rPr>
              <a:t>3.</a:t>
            </a:r>
            <a:r>
              <a:rPr lang="en-IN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IN" dirty="0"/>
              <a:t>Auto has the highest completed-ride volume and also generates the highest revenue among vehicle types.</a:t>
            </a:r>
          </a:p>
          <a:p>
            <a:pPr>
              <a:lnSpc>
                <a:spcPct val="100000"/>
              </a:lnSpc>
            </a:pPr>
            <a:r>
              <a:rPr lang="en-IN" dirty="0">
                <a:solidFill>
                  <a:schemeClr val="bg2">
                    <a:lumMod val="25000"/>
                  </a:schemeClr>
                </a:solidFill>
              </a:rPr>
              <a:t>   </a:t>
            </a:r>
            <a:r>
              <a:rPr lang="en-IN" dirty="0">
                <a:solidFill>
                  <a:schemeClr val="bg1"/>
                </a:solidFill>
              </a:rPr>
              <a:t>4. </a:t>
            </a:r>
            <a:r>
              <a:rPr lang="en-IN" dirty="0"/>
              <a:t>Certain pickup locations generate substantially higher revenue, with </a:t>
            </a:r>
            <a:r>
              <a:rPr lang="en-IN" dirty="0" err="1"/>
              <a:t>Barakhamba</a:t>
            </a:r>
            <a:r>
              <a:rPr lang="en-IN" dirty="0"/>
              <a:t> Road and </a:t>
            </a:r>
            <a:r>
              <a:rPr lang="en-IN" dirty="0" err="1"/>
              <a:t>Khandsa</a:t>
            </a:r>
            <a:r>
              <a:rPr lang="en-IN" dirty="0"/>
              <a:t> among the highest-revenue locations in the analysis.</a:t>
            </a:r>
            <a:endParaRPr lang="en-IN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39031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79C3C6-0F40-DF6F-04F8-3828A78E3183}"/>
              </a:ext>
            </a:extLst>
          </p:cNvPr>
          <p:cNvSpPr/>
          <p:nvPr/>
        </p:nvSpPr>
        <p:spPr>
          <a:xfrm>
            <a:off x="2979174" y="530942"/>
            <a:ext cx="6233652" cy="9930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Recommendations</a:t>
            </a:r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D506CD-F33E-7E7D-B568-E6697116020E}"/>
              </a:ext>
            </a:extLst>
          </p:cNvPr>
          <p:cNvSpPr/>
          <p:nvPr/>
        </p:nvSpPr>
        <p:spPr>
          <a:xfrm>
            <a:off x="1037303" y="2202426"/>
            <a:ext cx="10117394" cy="41246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IN" dirty="0"/>
              <a:t>1. Optimize driver availability during peak hours by aligning driver supply with high-demand morning and evening periods.</a:t>
            </a:r>
          </a:p>
          <a:p>
            <a:pPr lvl="0"/>
            <a:r>
              <a:rPr lang="en-IN" dirty="0"/>
              <a:t>2. Prioritize high-performing pickup locations for driver allocation and operational monitoring to capture demand efficiently.</a:t>
            </a:r>
          </a:p>
          <a:p>
            <a:pPr lvl="0"/>
            <a:r>
              <a:rPr lang="en-IN" dirty="0"/>
              <a:t>3. Strengthen digital payment adoption, particularly UPI, while maintaining alternative payment options for customer convenience.</a:t>
            </a:r>
          </a:p>
          <a:p>
            <a:pPr lvl="0"/>
            <a:r>
              <a:rPr lang="en-IN" dirty="0"/>
              <a:t>4. Focus vehicle availability on high-demand categories, especially Auto, while monitoring demand and revenue contribution across other vehicle types.</a:t>
            </a:r>
          </a:p>
          <a:p>
            <a:pPr lvl="0"/>
            <a:r>
              <a:rPr lang="en-IN" dirty="0"/>
              <a:t>5. Investigate locations with high driver-cancellation rates to identify operational issues and improve ride completion rates.</a:t>
            </a:r>
          </a:p>
        </p:txBody>
      </p:sp>
    </p:spTree>
    <p:extLst>
      <p:ext uri="{BB962C8B-B14F-4D97-AF65-F5344CB8AC3E}">
        <p14:creationId xmlns:p14="http://schemas.microsoft.com/office/powerpoint/2010/main" val="26974472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</TotalTime>
  <Words>988</Words>
  <Application>Microsoft Office PowerPoint</Application>
  <PresentationFormat>Widescreen</PresentationFormat>
  <Paragraphs>71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Bernard MT Condensed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Ayantika Chowdhury</dc:creator>
  <cp:lastModifiedBy>Ayantika Chowdhury</cp:lastModifiedBy>
  <cp:revision>13</cp:revision>
  <dcterms:created xsi:type="dcterms:W3CDTF">2026-09-19T07:54:41Z</dcterms:created>
  <dcterms:modified xsi:type="dcterms:W3CDTF">2026-09-19T15:50:48Z</dcterms:modified>
</cp:coreProperties>
</file>